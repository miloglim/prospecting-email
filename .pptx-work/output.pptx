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27" r:id="rId2"/>
    <p:sldId id="449" r:id="rId3"/>
    <p:sldId id="436" r:id="rId4"/>
    <p:sldId id="450" r:id="rId5"/>
    <p:sldId id="451" r:id="rId6"/>
    <p:sldId id="464" r:id="rId7"/>
    <p:sldId id="463" r:id="rId8"/>
    <p:sldId id="454" r:id="rId9"/>
  </p:sldIdLst>
  <p:sldSz cx="12192000" cy="6858000"/>
  <p:notesSz cx="6858000" cy="9144000"/>
  <p:custDataLst>
    <p:tags r:id="rId1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1FF"/>
    <a:srgbClr val="0080FF"/>
    <a:srgbClr val="0082FF"/>
    <a:srgbClr val="1A3272"/>
    <a:srgbClr val="326E84"/>
    <a:srgbClr val="5B9DBB"/>
    <a:srgbClr val="13436C"/>
    <a:srgbClr val="F1F1F1"/>
    <a:srgbClr val="A90202"/>
    <a:srgbClr val="1A2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0" autoAdjust="0"/>
    <p:restoredTop sz="94674"/>
  </p:normalViewPr>
  <p:slideViewPr>
    <p:cSldViewPr showGuides="1">
      <p:cViewPr varScale="1">
        <p:scale>
          <a:sx n="93" d="100"/>
          <a:sy n="93" d="100"/>
        </p:scale>
        <p:origin x="96" y="366"/>
      </p:cViewPr>
      <p:guideLst>
        <p:guide orient="horz" pos="417"/>
        <p:guide pos="3855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  <a:t>2026/9/4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本页是故事的起点，旨在快速唤醒评委记忆，为后续展示的成果价值做强力铺垫。陈述务必精炼，痛点要突出。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直观展示产品功能，让评委快速理解产品能力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>
          <a:xfrm>
            <a:off x="-24130" y="0"/>
            <a:ext cx="12263755" cy="6858635"/>
          </a:xfrm>
          <a:prstGeom prst="rect">
            <a:avLst/>
          </a:prstGeom>
          <a:solidFill>
            <a:srgbClr val="008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图虫创意-902273286352928781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t="5906" b="44024"/>
          <a:stretch>
            <a:fillRect/>
          </a:stretch>
        </p:blipFill>
        <p:spPr>
          <a:xfrm>
            <a:off x="-24765" y="0"/>
            <a:ext cx="12239625" cy="3429000"/>
          </a:xfrm>
          <a:prstGeom prst="rect">
            <a:avLst/>
          </a:prstGeom>
        </p:spPr>
      </p:pic>
      <p:pic>
        <p:nvPicPr>
          <p:cNvPr id="7" name="图片 6" descr="1-1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91955" y="5674995"/>
            <a:ext cx="2930525" cy="1172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6184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upload_post_object_v2_65134974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844915" y="322580"/>
            <a:ext cx="3026410" cy="343535"/>
          </a:xfrm>
          <a:prstGeom prst="rect">
            <a:avLst/>
          </a:prstGeom>
        </p:spPr>
      </p:pic>
      <p:sp>
        <p:nvSpPr>
          <p:cNvPr id="3" name="Image 3" descr="preencoded.png"/>
          <p:cNvSpPr/>
          <p:nvPr userDrawn="1"/>
        </p:nvSpPr>
        <p:spPr>
          <a:xfrm flipH="1">
            <a:off x="335280" y="205105"/>
            <a:ext cx="9145270" cy="476885"/>
          </a:xfrm>
          <a:custGeom>
            <a:avLst/>
            <a:gdLst>
              <a:gd name="connsiteX0" fmla="*/ 0 w 12934950"/>
              <a:gd name="connsiteY0" fmla="*/ 0 h 476609"/>
              <a:gd name="connsiteX1" fmla="*/ 940915 w 12934950"/>
              <a:gd name="connsiteY1" fmla="*/ 0 h 476609"/>
              <a:gd name="connsiteX2" fmla="*/ 1508798 w 12934950"/>
              <a:gd name="connsiteY2" fmla="*/ 476609 h 476609"/>
              <a:gd name="connsiteX3" fmla="*/ 12934950 w 12934950"/>
              <a:gd name="connsiteY3" fmla="*/ 476609 h 476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4950" h="476609">
                <a:moveTo>
                  <a:pt x="0" y="0"/>
                </a:moveTo>
                <a:cubicBezTo>
                  <a:pt x="0" y="0"/>
                  <a:pt x="519016" y="0"/>
                  <a:pt x="940915" y="0"/>
                </a:cubicBezTo>
                <a:cubicBezTo>
                  <a:pt x="1362818" y="0"/>
                  <a:pt x="1144667" y="476609"/>
                  <a:pt x="1508798" y="476609"/>
                </a:cubicBezTo>
                <a:cubicBezTo>
                  <a:pt x="1872920" y="476609"/>
                  <a:pt x="12934950" y="476609"/>
                  <a:pt x="12934950" y="476609"/>
                </a:cubicBezTo>
              </a:path>
            </a:pathLst>
          </a:custGeom>
          <a:noFill/>
          <a:ln w="9525" cap="sq">
            <a:gradFill>
              <a:gsLst>
                <a:gs pos="45000">
                  <a:srgbClr val="0081FF"/>
                </a:gs>
                <a:gs pos="10000">
                  <a:schemeClr val="accent1">
                    <a:alpha val="0"/>
                  </a:schemeClr>
                </a:gs>
                <a:gs pos="89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14227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fontAlgn="base">
        <a:spcBef>
          <a:spcPts val="13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990600" indent="-381000" algn="l" rtl="0" fontAlgn="base">
        <a:spcBef>
          <a:spcPts val="13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524000" indent="-304800" algn="l" rtl="0" fontAlgn="base">
        <a:spcBef>
          <a:spcPts val="13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2133600" indent="-304800" algn="l" rtl="0" fontAlgn="base">
        <a:spcBef>
          <a:spcPts val="13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743200" indent="-304800" algn="l" rtl="0" fontAlgn="base">
        <a:spcBef>
          <a:spcPts val="13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upload_post_object_v2_44723805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5325" y="836930"/>
            <a:ext cx="4977130" cy="563880"/>
          </a:xfrm>
          <a:prstGeom prst="rect">
            <a:avLst/>
          </a:prstGeom>
        </p:spPr>
      </p:pic>
      <p:sp>
        <p:nvSpPr>
          <p:cNvPr id="2" name="TextBox 7"/>
          <p:cNvSpPr>
            <a:spLocks noChangeArrowheads="1"/>
          </p:cNvSpPr>
          <p:nvPr/>
        </p:nvSpPr>
        <p:spPr bwMode="auto">
          <a:xfrm>
            <a:off x="623570" y="2204720"/>
            <a:ext cx="10477500" cy="1107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Prospector — 可控 Agent 外贸获客工作台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Box 84"/>
          <p:cNvSpPr txBox="1"/>
          <p:nvPr>
            <p:custDataLst>
              <p:tags r:id="rId1"/>
            </p:custDataLst>
          </p:nvPr>
        </p:nvSpPr>
        <p:spPr>
          <a:xfrm>
            <a:off x="7032118" y="4364755"/>
            <a:ext cx="1557020" cy="1337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 eaLnBrk="1" latinLnBrk="0" hangingPunct="1">
              <a:lnSpc>
                <a:spcPct val="150000"/>
              </a:lnSpc>
            </a:pPr>
            <a:r>
              <a:rPr lang="zh-CN" altLang="en-US" sz="18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汇报战队：YQN Tech.</a:t>
            </a:r>
            <a:endParaRPr lang="en-US" altLang="zh-CN" sz="18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r>
              <a:rPr lang="zh-CN" altLang="en-US" sz="18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汇报人：金颖哲 Zayne</a:t>
            </a:r>
            <a:endParaRPr lang="en-US" altLang="zh-CN" sz="18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7080" y="3860800"/>
            <a:ext cx="6096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智能启航，引领未来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6"/>
          <p:cNvSpPr/>
          <p:nvPr/>
        </p:nvSpPr>
        <p:spPr>
          <a:xfrm>
            <a:off x="774" y="0"/>
            <a:ext cx="3488013" cy="6858000"/>
          </a:xfrm>
          <a:prstGeom prst="rect">
            <a:avLst/>
          </a:prstGeom>
          <a:solidFill>
            <a:srgbClr val="0080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文本框 21"/>
          <p:cNvSpPr txBox="1"/>
          <p:nvPr/>
        </p:nvSpPr>
        <p:spPr>
          <a:xfrm>
            <a:off x="557202" y="2939058"/>
            <a:ext cx="2375027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000" b="1" dirty="0">
                <a:solidFill>
                  <a:schemeClr val="bg1"/>
                </a:solidFill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4341495" y="4109720"/>
            <a:ext cx="610870" cy="61087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4341495" y="3082925"/>
            <a:ext cx="610870" cy="61087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4341495" y="2051685"/>
            <a:ext cx="610870" cy="61087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bject 208"/>
          <p:cNvSpPr txBox="1"/>
          <p:nvPr>
            <p:custDataLst>
              <p:tags r:id="rId4"/>
            </p:custDataLst>
          </p:nvPr>
        </p:nvSpPr>
        <p:spPr>
          <a:xfrm>
            <a:off x="4335629" y="2141260"/>
            <a:ext cx="660400" cy="426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11000"/>
              </a:lnSpc>
            </a:pPr>
            <a:r>
              <a:rPr 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50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2012"/>
          <p:cNvSpPr txBox="1"/>
          <p:nvPr>
            <p:custDataLst>
              <p:tags r:id="rId5"/>
            </p:custDataLst>
          </p:nvPr>
        </p:nvSpPr>
        <p:spPr>
          <a:xfrm>
            <a:off x="4316579" y="3159800"/>
            <a:ext cx="660400" cy="426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11000"/>
              </a:lnSpc>
            </a:pPr>
            <a:r>
              <a:rPr 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5307965" y="2130425"/>
            <a:ext cx="3587750" cy="2521585"/>
            <a:chOff x="8359" y="2985"/>
            <a:chExt cx="5650" cy="3971"/>
          </a:xfrm>
        </p:grpSpPr>
        <p:sp>
          <p:nvSpPr>
            <p:cNvPr id="15" name="Object 205"/>
            <p:cNvSpPr txBox="1"/>
            <p:nvPr>
              <p:custDataLst>
                <p:tags r:id="rId15"/>
              </p:custDataLst>
            </p:nvPr>
          </p:nvSpPr>
          <p:spPr>
            <a:xfrm>
              <a:off x="8359" y="2985"/>
              <a:ext cx="5650" cy="72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24000"/>
                </a:lnSpc>
              </a:pPr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场景回顾</a:t>
              </a:r>
            </a:p>
          </p:txBody>
        </p:sp>
        <p:sp>
          <p:nvSpPr>
            <p:cNvPr id="16" name="Object 209"/>
            <p:cNvSpPr txBox="1"/>
            <p:nvPr>
              <p:custDataLst>
                <p:tags r:id="rId16"/>
              </p:custDataLst>
            </p:nvPr>
          </p:nvSpPr>
          <p:spPr>
            <a:xfrm>
              <a:off x="8359" y="4604"/>
              <a:ext cx="5650" cy="72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24000"/>
                </a:lnSpc>
              </a:pPr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技术实现</a:t>
              </a:r>
            </a:p>
          </p:txBody>
        </p:sp>
        <p:sp>
          <p:nvSpPr>
            <p:cNvPr id="18" name="Object 2013"/>
            <p:cNvSpPr txBox="1"/>
            <p:nvPr>
              <p:custDataLst>
                <p:tags r:id="rId17"/>
              </p:custDataLst>
            </p:nvPr>
          </p:nvSpPr>
          <p:spPr>
            <a:xfrm>
              <a:off x="8359" y="6236"/>
              <a:ext cx="5650" cy="72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24000"/>
                </a:lnSpc>
              </a:pPr>
              <a:r>
                <a:rPr lang="zh-CN" altLang="en-US" sz="2400" b="1" i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价值与推广</a:t>
              </a:r>
            </a:p>
          </p:txBody>
        </p:sp>
      </p:grpSp>
      <p:sp>
        <p:nvSpPr>
          <p:cNvPr id="19" name="Object 2016"/>
          <p:cNvSpPr txBox="1"/>
          <p:nvPr>
            <p:custDataLst>
              <p:tags r:id="rId7"/>
            </p:custDataLst>
          </p:nvPr>
        </p:nvSpPr>
        <p:spPr>
          <a:xfrm>
            <a:off x="4316579" y="4198322"/>
            <a:ext cx="660400" cy="426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11000"/>
              </a:lnSpc>
            </a:pPr>
            <a:r>
              <a:rPr 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23" name="矩形 22"/>
          <p:cNvSpPr/>
          <p:nvPr>
            <p:custDataLst>
              <p:tags r:id="rId8"/>
            </p:custDataLst>
          </p:nvPr>
        </p:nvSpPr>
        <p:spPr>
          <a:xfrm>
            <a:off x="7748905" y="2044065"/>
            <a:ext cx="610870" cy="61087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Object 2016"/>
          <p:cNvSpPr txBox="1"/>
          <p:nvPr>
            <p:custDataLst>
              <p:tags r:id="rId9"/>
            </p:custDataLst>
          </p:nvPr>
        </p:nvSpPr>
        <p:spPr>
          <a:xfrm>
            <a:off x="7723989" y="2132667"/>
            <a:ext cx="660400" cy="426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11000"/>
              </a:lnSpc>
            </a:pPr>
            <a:r>
              <a:rPr 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6" name="矩形 25"/>
          <p:cNvSpPr/>
          <p:nvPr>
            <p:custDataLst>
              <p:tags r:id="rId10"/>
            </p:custDataLst>
          </p:nvPr>
        </p:nvSpPr>
        <p:spPr>
          <a:xfrm>
            <a:off x="7748905" y="3074035"/>
            <a:ext cx="610870" cy="61087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Object 2016"/>
          <p:cNvSpPr txBox="1"/>
          <p:nvPr>
            <p:custDataLst>
              <p:tags r:id="rId11"/>
            </p:custDataLst>
          </p:nvPr>
        </p:nvSpPr>
        <p:spPr>
          <a:xfrm>
            <a:off x="7723989" y="3162637"/>
            <a:ext cx="660400" cy="426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11000"/>
              </a:lnSpc>
            </a:pPr>
            <a:r>
              <a:rPr 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50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grpSp>
        <p:nvGrpSpPr>
          <p:cNvPr id="31" name="组合 30"/>
          <p:cNvGrpSpPr/>
          <p:nvPr>
            <p:custDataLst>
              <p:tags r:id="rId12"/>
            </p:custDataLst>
          </p:nvPr>
        </p:nvGrpSpPr>
        <p:grpSpPr>
          <a:xfrm>
            <a:off x="8688070" y="2132965"/>
            <a:ext cx="3046095" cy="1487170"/>
            <a:chOff x="13724" y="3111"/>
            <a:chExt cx="5651" cy="2342"/>
          </a:xfrm>
        </p:grpSpPr>
        <p:sp>
          <p:nvSpPr>
            <p:cNvPr id="32" name="Object 2013"/>
            <p:cNvSpPr txBox="1"/>
            <p:nvPr>
              <p:custDataLst>
                <p:tags r:id="rId13"/>
              </p:custDataLst>
            </p:nvPr>
          </p:nvSpPr>
          <p:spPr>
            <a:xfrm>
              <a:off x="13724" y="3111"/>
              <a:ext cx="5650" cy="72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24000"/>
                </a:lnSpc>
              </a:pPr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产品演示</a:t>
              </a:r>
            </a:p>
          </p:txBody>
        </p:sp>
        <p:sp>
          <p:nvSpPr>
            <p:cNvPr id="33" name="Object 2013"/>
            <p:cNvSpPr txBox="1"/>
            <p:nvPr>
              <p:custDataLst>
                <p:tags r:id="rId14"/>
              </p:custDataLst>
            </p:nvPr>
          </p:nvSpPr>
          <p:spPr>
            <a:xfrm>
              <a:off x="13725" y="4733"/>
              <a:ext cx="5650" cy="72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24000"/>
                </a:lnSpc>
              </a:pPr>
              <a:r>
                <a:rPr lang="zh-CN" altLang="en-US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创新亮点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场景回顾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1225" y="1268730"/>
            <a:ext cx="4064000" cy="4775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场景问题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痛点与影响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0" y="1234440"/>
            <a:ext cx="6492240" cy="1481328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1307592"/>
            <a:ext cx="6272783" cy="13350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场景问题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外贸 / 货代销售以开发信为主要获客渠道，全生命周期：导入线索 → 公司背调 → 撰写开发信 → 批量触达 → 回件退信追踪 → 跟进转化。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判断密度高、信息分散、结果滞后 —— 是每天重复发生的经营性工作。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999232"/>
            <a:ext cx="6492240" cy="2743200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30368" y="3072384"/>
            <a:ext cx="6272783" cy="2596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痛点与影响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0081FF"/>
                </a:solidFill>
                <a:latin typeface="微软雅黑"/>
                <a:ea typeface="微软雅黑"/>
              </a:rPr>
              <a:t>■ 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变量多：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航线行情、舱位价格、客户动态互相纠缠，人工凭感觉判断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0081FF"/>
                </a:solidFill>
                <a:latin typeface="微软雅黑"/>
                <a:ea typeface="微软雅黑"/>
              </a:rPr>
              <a:t>■ 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信息慢：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回件与退信散在多个邮箱，次日才发现；跟进凭记忆，超期无提醒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0081FF"/>
                </a:solidFill>
                <a:latin typeface="微软雅黑"/>
                <a:ea typeface="微软雅黑"/>
              </a:rPr>
              <a:t>■ </a:t>
            </a: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无基准：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名单在 Excel、沟通在邮箱、笔记在文档，线索资产无法沉淀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5F6B7A"/>
                </a:solidFill>
                <a:latin typeface="微软雅黑"/>
                <a:ea typeface="微软雅黑"/>
              </a:rPr>
              <a:t>量化口径（模拟，待实测校准）：</a:t>
            </a:r>
            <a:r>
              <a:rPr sz="1050" b="0">
                <a:solidFill>
                  <a:srgbClr val="5F6B7A"/>
                </a:solidFill>
                <a:latin typeface="微软雅黑"/>
                <a:ea typeface="微软雅黑"/>
              </a:rPr>
              <a:t>每日人工整理名单与回件约 40 分钟；一封含背调的开发信约 25 分钟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产品演示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1225" y="1340485"/>
            <a:ext cx="4064000" cy="4775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产品形态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功能演示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操作路径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0" y="1298448"/>
            <a:ext cx="6492240" cy="1188720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1371600"/>
            <a:ext cx="6272783" cy="10424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产品形态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Windows 桌面应用（Electron + React），内置 agent 助手：接入 17 个业务工具，读查即答、写操作一律人工确认、全程留痕。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761488"/>
            <a:ext cx="6492240" cy="1298448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30368" y="2834640"/>
            <a:ext cx="6272783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功能演示（现场 live + 录屏备胎）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1 分钟任务闭环：问「今天该跟进谁」→ 助手查到期提醒 → 批量生成跟进信 → 弹确认 → 入队 → 开始发送 → 回件自动回流。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跟进序列产品化：发送成功自动推进 cold→f1→…→f4（四轮追），退信 / 失败不动。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4334256"/>
            <a:ext cx="6492240" cy="1481328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30368" y="4407408"/>
            <a:ext cx="6272783" cy="13350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操作路径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① 客户页导入联系人　② 发送中心选人 → 选模式 → 加入队列　③ 队列页点「开始发送」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④ 收件箱 / 客户管理跟踪回件与超期　⑤ 任何环节随时问助手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技术实现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1225" y="1340485"/>
            <a:ext cx="4064000" cy="4775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工作流架构图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技术能力运用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188720"/>
            <a:ext cx="6492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对话工作台执行链路（内核 + 注册表）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用户提问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意图规划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1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工具注册表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1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5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读 / 写分级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2103120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人工确认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103120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79" y="2103120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执行落库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2103120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19" y="2103120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审计留痕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1" y="2103120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59" y="2103120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回件回流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651760"/>
            <a:ext cx="6492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微软雅黑"/>
                <a:ea typeface="微软雅黑"/>
              </a:rPr>
              <a:t>写操作中断-确认-恢复由内核强制，任何工具声明只能加严、不能豁免。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3017520"/>
            <a:ext cx="6492240" cy="1572768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0368" y="3090672"/>
            <a:ext cx="6272783" cy="1426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技术能力运用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OpenAI Agents SDK：工具循环、needsApproval 中断流、会话续跑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17 个业务工具：运价 / 邮件 / 联系人 / 提醒 / 队列 / 背调 / 行情调研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update_plan 任务清单 · 后台批量任务 · 产物导出（md/csv）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4700016"/>
            <a:ext cx="6492240" cy="1188720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4773168"/>
            <a:ext cx="6272783" cy="10424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关键技术决策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发信开关永远在人手里 —— AI 可建议、可入队，不可触发群发（爆炸半径控制）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事实先查后说 —— 涉库问题强制走工具，无源即拒答，幻觉不进业务链路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技术实现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1225" y="1340485"/>
            <a:ext cx="4064000" cy="4775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开发流水线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千问办公能力运用</a:t>
            </a: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质量门禁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188720"/>
            <a:ext cx="6492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spec-first 开发流水线（4 份规范先行）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需求提出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规范落档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1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范围审订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1" y="1517904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59" y="1517904"/>
            <a:ext cx="141731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实现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2103120"/>
            <a:ext cx="198119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typecheck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3551" y="2103120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6160" y="2103120"/>
            <a:ext cx="198119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296 条测试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9072" y="2103120"/>
            <a:ext cx="310896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081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31679" y="2103120"/>
            <a:ext cx="1981199" cy="457200"/>
          </a:xfrm>
          <a:prstGeom prst="rect">
            <a:avLst/>
          </a:prstGeom>
          <a:solidFill>
            <a:srgbClr val="0B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提交 / 发版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2798064"/>
            <a:ext cx="6492240" cy="1920240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30368" y="2871216"/>
            <a:ext cx="6272783" cy="17739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千问办公能力运用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codegraph 代码库勘察：新旧两版程序建索引，改造前先出影响面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跨会话记忆：safeStorage / NAPI 版本等坑一次踩坑、长期复用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并行子代理：架构评估三路同时取证（可靠性 / 安全 / 工程化）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Skills：pptx（本材料）· docx · xlsx · pdf —— 文档产出同一条链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4828032"/>
            <a:ext cx="6492240" cy="1060704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4901184"/>
            <a:ext cx="6272783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质量门禁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123 个 commit 全部过 typecheck + 测试准出；改实现先改规范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「做不到」如实登记为能力缺口台账，不圆场、不静默失败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创新亮点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65505" y="1340485"/>
            <a:ext cx="4064000" cy="4775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eaLnBrk="1" latinLnBrk="0" hangingPunct="1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原生创新点</a:t>
            </a:r>
          </a:p>
          <a:p>
            <a:pPr marL="285750" indent="-285750" eaLnBrk="1" latinLnBrk="0" hangingPunct="1">
              <a:lnSpc>
                <a:spcPct val="150000"/>
              </a:lnSpc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1" latinLnBrk="0" hangingPunct="1">
              <a:lnSpc>
                <a:spcPct val="150000"/>
              </a:lnSpc>
              <a:buFont typeface="Wingdings" panose="05000000000000000000" charset="0"/>
              <a:buChar char="n"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1" latinLnBrk="0" hangingPunct="1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核心亮点说明</a:t>
            </a:r>
          </a:p>
          <a:p>
            <a:pPr marL="0" indent="0">
              <a:buFont typeface="Wingdings" panose="05000000000000000000" charset="0"/>
              <a:buNone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0" y="1234440"/>
            <a:ext cx="6492240" cy="2395728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1307592"/>
            <a:ext cx="6272783" cy="22494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AI 原生创新点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① 算力分工隔离幻觉：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数字交给规则引擎、纪律交给注册表、文案交给大模型 —— 幻觉够不到发信开关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② 严格人在回路：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写操作中断确认、审计逐条落库；没有 AI 时这套纪律靠人自觉，根本立不住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1A1A1A"/>
                </a:solidFill>
                <a:latin typeface="微软雅黑"/>
                <a:ea typeface="微软雅黑"/>
              </a:rPr>
              <a:t>③ AI 造 AI：</a:t>
            </a: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产品是 agent 应用，开发过程也是与千问办公的多节点协作 —— 用 AI 的工作方式造 AI 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803904"/>
            <a:ext cx="6492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核心亮点对比（模拟数据，待实测校准）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120640" y="4114800"/>
          <a:ext cx="6492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marL="73152" marR="45720" marT="18288" marB="18288" anchor="ctr">
                    <a:solidFill>
                      <a:srgbClr val="0B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人工模式</a:t>
                      </a:r>
                    </a:p>
                  </a:txBody>
                  <a:tcPr marL="73152" marR="45720" marT="18288" marB="18288" anchor="ctr">
                    <a:solidFill>
                      <a:srgbClr val="0B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Prospector</a:t>
                      </a:r>
                    </a:p>
                  </a:txBody>
                  <a:tcPr marL="73152" marR="45720" marT="18288" marB="18288" anchor="ctr">
                    <a:solidFill>
                      <a:srgbClr val="0B3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回件 / 退信发现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逐个邮箱翻，T+1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 分钟自动回流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今日跟进清单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凭记忆翻表，约 40 分钟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一句话直达，约 5 分钟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一封开发信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背调+撰写约 25 分钟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草稿 3 分钟内确认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线索资产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散落 Excel / 邮箱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单库时间线可检索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航线报价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翻船司网站 / 问同行，半天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台账直查 + 联网行情核实</a:t>
                      </a:r>
                    </a:p>
                  </a:txBody>
                  <a:tcPr marL="73152" marR="45720" marT="18288" marB="18288" anchor="ctr"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34950" y="202779"/>
            <a:ext cx="46943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价值与推广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1225" y="1845945"/>
            <a:ext cx="2776855" cy="6635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效益数据对比</a:t>
            </a:r>
          </a:p>
          <a:p>
            <a:pPr marL="0" indent="0">
              <a:buFont typeface="Wingdings" panose="05000000000000000000" charset="0"/>
              <a:buNone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1225" y="2924810"/>
            <a:ext cx="2644140" cy="6635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推广可行性</a:t>
            </a:r>
          </a:p>
          <a:p>
            <a:pPr marL="0" indent="0">
              <a:buFont typeface="Wingdings" panose="05000000000000000000" charset="0"/>
              <a:buNone/>
            </a:pPr>
            <a:endParaRPr lang="zh-CN" altLang="en-US" sz="20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0" y="1737360"/>
            <a:ext cx="6492240" cy="2103120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1810512"/>
            <a:ext cx="6272783" cy="1956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效益数据对比（模拟，待实测校准）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日跟进清单整理：约 40 分钟 → 约 5 分钟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一封开发信（含背调）：约 25 分钟 → 约 3 分钟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退信处理：次日人工发现 → 5 分钟自动识别 + 一键重触达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周统计：手工汇总半天 → 看板实时；数据口径全库统一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4041648"/>
            <a:ext cx="6492240" cy="1810512"/>
          </a:xfrm>
          <a:prstGeom prst="rect">
            <a:avLst/>
          </a:prstGeom>
          <a:solidFill>
            <a:srgbClr val="F3F8FF"/>
          </a:solidFill>
          <a:ln w="9525">
            <a:solidFill>
              <a:srgbClr val="D9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30368" y="4114800"/>
            <a:ext cx="6272783" cy="1664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B3D7A"/>
                </a:solidFill>
                <a:latin typeface="微软雅黑"/>
                <a:ea typeface="微软雅黑"/>
              </a:rPr>
              <a:t>推广可行性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安装即用：NSIS 安装包 + 三步新手向导，无需部署任何云端组件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低门槛：标准 IMAP/SMTP 任意邮箱服务商可接；全中文界面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适用岗位：外贸 / 货代销售、商务拓展、销售管理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</a:rPr>
              <a:t>数据合规：全本地存储，密钥系统级加密，trace 不外发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bf32b21c57e606988ab10ec694d2e32676a8b"/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4,&quot;left&quot;:339.8881102362205,&quot;top&quot;:144,&quot;width&quot;:591.161889763779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4,&quot;left&quot;:339.8881102362205,&quot;top&quot;:144,&quot;width&quot;:591.161889763779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1.4,&quot;left&quot;:339.8881102362205,&quot;top&quot;:144,&quot;width&quot;:591.1618897637795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​​">
  <a:themeElements>
    <a:clrScheme name="自定义 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81FF"/>
      </a:accent1>
      <a:accent2>
        <a:srgbClr val="FFC000"/>
      </a:accent2>
      <a:accent3>
        <a:srgbClr val="0081FF"/>
      </a:accent3>
      <a:accent4>
        <a:srgbClr val="0081FF"/>
      </a:accent4>
      <a:accent5>
        <a:srgbClr val="FFC000"/>
      </a:accent5>
      <a:accent6>
        <a:srgbClr val="0081FF"/>
      </a:accent6>
      <a:hlink>
        <a:srgbClr val="FFC000"/>
      </a:hlink>
      <a:folHlink>
        <a:srgbClr val="0081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1600" b="1" dirty="0" smtClean="0">
            <a:solidFill>
              <a:schemeClr val="accent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Microsoft Office PowerPoint</Application>
  <PresentationFormat>宽屏</PresentationFormat>
  <Paragraphs>156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思源黑体 CN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sunny</dc:creator>
  <cp:keywords>www.51pptmoban.com</cp:keywords>
  <cp:lastModifiedBy>颖哲 金</cp:lastModifiedBy>
  <cp:revision>95</cp:revision>
  <dcterms:created xsi:type="dcterms:W3CDTF">2023-11-23T07:00:00Z</dcterms:created>
  <dcterms:modified xsi:type="dcterms:W3CDTF">2026-09-04T07:30:34Z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2052-12.1.0.28043</vt:lpwstr>
  </property>
</Properties>
</file>